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67df1aa9_5_187:notes"/>
          <p:cNvSpPr/>
          <p:nvPr>
            <p:ph idx="2" type="sldImg"/>
          </p:nvPr>
        </p:nvSpPr>
        <p:spPr>
          <a:xfrm>
            <a:off x="914400" y="1524000"/>
            <a:ext cx="7313700" cy="411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467df1aa9_5_187:notes"/>
          <p:cNvSpPr txBox="1"/>
          <p:nvPr>
            <p:ph idx="1" type="body"/>
          </p:nvPr>
        </p:nvSpPr>
        <p:spPr>
          <a:xfrm>
            <a:off x="914400" y="5867520"/>
            <a:ext cx="73137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7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467df1aa9_5_187:notes"/>
          <p:cNvSpPr txBox="1"/>
          <p:nvPr>
            <p:ph idx="12" type="sldNum"/>
          </p:nvPr>
        </p:nvSpPr>
        <p:spPr>
          <a:xfrm>
            <a:off x="5179680" y="11580480"/>
            <a:ext cx="39609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467df1aa9_5_198:notes"/>
          <p:cNvSpPr/>
          <p:nvPr>
            <p:ph idx="2" type="sldImg"/>
          </p:nvPr>
        </p:nvSpPr>
        <p:spPr>
          <a:xfrm>
            <a:off x="914400" y="1524000"/>
            <a:ext cx="7313700" cy="411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f467df1aa9_5_198:notes"/>
          <p:cNvSpPr txBox="1"/>
          <p:nvPr>
            <p:ph idx="1" type="body"/>
          </p:nvPr>
        </p:nvSpPr>
        <p:spPr>
          <a:xfrm>
            <a:off x="914400" y="5867520"/>
            <a:ext cx="73137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7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467df1aa9_5_198:notes"/>
          <p:cNvSpPr txBox="1"/>
          <p:nvPr>
            <p:ph idx="12" type="sldNum"/>
          </p:nvPr>
        </p:nvSpPr>
        <p:spPr>
          <a:xfrm>
            <a:off x="5179680" y="11580480"/>
            <a:ext cx="39609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467df1aa9_5_236:notes"/>
          <p:cNvSpPr/>
          <p:nvPr>
            <p:ph idx="2" type="sldImg"/>
          </p:nvPr>
        </p:nvSpPr>
        <p:spPr>
          <a:xfrm>
            <a:off x="914400" y="1524000"/>
            <a:ext cx="7313700" cy="411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f467df1aa9_5_236:notes"/>
          <p:cNvSpPr txBox="1"/>
          <p:nvPr>
            <p:ph idx="1" type="body"/>
          </p:nvPr>
        </p:nvSpPr>
        <p:spPr>
          <a:xfrm>
            <a:off x="914400" y="5867520"/>
            <a:ext cx="73137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7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467df1aa9_5_236:notes"/>
          <p:cNvSpPr txBox="1"/>
          <p:nvPr>
            <p:ph idx="12" type="sldNum"/>
          </p:nvPr>
        </p:nvSpPr>
        <p:spPr>
          <a:xfrm>
            <a:off x="5179680" y="11580480"/>
            <a:ext cx="39609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467df1aa9_5_260:notes"/>
          <p:cNvSpPr/>
          <p:nvPr>
            <p:ph idx="2" type="sldImg"/>
          </p:nvPr>
        </p:nvSpPr>
        <p:spPr>
          <a:xfrm>
            <a:off x="914400" y="1524000"/>
            <a:ext cx="7313700" cy="411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f467df1aa9_5_260:notes"/>
          <p:cNvSpPr txBox="1"/>
          <p:nvPr>
            <p:ph idx="1" type="body"/>
          </p:nvPr>
        </p:nvSpPr>
        <p:spPr>
          <a:xfrm>
            <a:off x="914400" y="5867520"/>
            <a:ext cx="73137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7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467df1aa9_5_260:notes"/>
          <p:cNvSpPr txBox="1"/>
          <p:nvPr>
            <p:ph idx="12" type="sldNum"/>
          </p:nvPr>
        </p:nvSpPr>
        <p:spPr>
          <a:xfrm>
            <a:off x="5179680" y="11580480"/>
            <a:ext cx="39609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467df1aa9_5_298:notes"/>
          <p:cNvSpPr/>
          <p:nvPr>
            <p:ph idx="2" type="sldImg"/>
          </p:nvPr>
        </p:nvSpPr>
        <p:spPr>
          <a:xfrm>
            <a:off x="914400" y="1524000"/>
            <a:ext cx="7313700" cy="411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f467df1aa9_5_298:notes"/>
          <p:cNvSpPr txBox="1"/>
          <p:nvPr>
            <p:ph idx="1" type="body"/>
          </p:nvPr>
        </p:nvSpPr>
        <p:spPr>
          <a:xfrm>
            <a:off x="914400" y="5867520"/>
            <a:ext cx="7313700" cy="4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7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467df1aa9_5_298:notes"/>
          <p:cNvSpPr txBox="1"/>
          <p:nvPr>
            <p:ph idx="12" type="sldNum"/>
          </p:nvPr>
        </p:nvSpPr>
        <p:spPr>
          <a:xfrm>
            <a:off x="5179680" y="11580480"/>
            <a:ext cx="39609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609600" y="1604640"/>
            <a:ext cx="109725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609600" y="1604640"/>
            <a:ext cx="109725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609600" y="1604640"/>
            <a:ext cx="53544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2" type="body"/>
          </p:nvPr>
        </p:nvSpPr>
        <p:spPr>
          <a:xfrm>
            <a:off x="6232320" y="1604640"/>
            <a:ext cx="53544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idx="1" type="subTitle"/>
          </p:nvPr>
        </p:nvSpPr>
        <p:spPr>
          <a:xfrm>
            <a:off x="609600" y="273600"/>
            <a:ext cx="10972500" cy="53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609600" y="160464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232320" y="1604640"/>
            <a:ext cx="53544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3" type="body"/>
          </p:nvPr>
        </p:nvSpPr>
        <p:spPr>
          <a:xfrm>
            <a:off x="609600" y="368256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609600" y="1604640"/>
            <a:ext cx="53544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6232320" y="160464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3" type="body"/>
          </p:nvPr>
        </p:nvSpPr>
        <p:spPr>
          <a:xfrm>
            <a:off x="6232320" y="368256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609600" y="160464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2" type="body"/>
          </p:nvPr>
        </p:nvSpPr>
        <p:spPr>
          <a:xfrm>
            <a:off x="6232320" y="160464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3" type="body"/>
          </p:nvPr>
        </p:nvSpPr>
        <p:spPr>
          <a:xfrm>
            <a:off x="609600" y="368256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609600" y="160464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609600" y="368256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609600" y="160464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6232320" y="160464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3" type="body"/>
          </p:nvPr>
        </p:nvSpPr>
        <p:spPr>
          <a:xfrm>
            <a:off x="609600" y="368256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4" type="body"/>
          </p:nvPr>
        </p:nvSpPr>
        <p:spPr>
          <a:xfrm>
            <a:off x="6232320" y="368256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609600" y="1604640"/>
            <a:ext cx="3532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319520" y="1604640"/>
            <a:ext cx="3532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3" type="body"/>
          </p:nvPr>
        </p:nvSpPr>
        <p:spPr>
          <a:xfrm>
            <a:off x="8029440" y="1604640"/>
            <a:ext cx="3532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4" type="body"/>
          </p:nvPr>
        </p:nvSpPr>
        <p:spPr>
          <a:xfrm>
            <a:off x="609600" y="3682560"/>
            <a:ext cx="3532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5" type="body"/>
          </p:nvPr>
        </p:nvSpPr>
        <p:spPr>
          <a:xfrm>
            <a:off x="4319520" y="3682560"/>
            <a:ext cx="3532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6" type="body"/>
          </p:nvPr>
        </p:nvSpPr>
        <p:spPr>
          <a:xfrm>
            <a:off x="8029440" y="3682560"/>
            <a:ext cx="3532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0960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609600" y="1604640"/>
            <a:ext cx="109725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A3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0E7C86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F5A623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10607040" y="5212080"/>
            <a:ext cx="2103120" cy="2103120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4937760" y="1051560"/>
            <a:ext cx="2286000" cy="457200"/>
          </a:xfrm>
          <a:prstGeom prst="roundRect">
            <a:avLst>
              <a:gd fmla="val 50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4937760" y="1051560"/>
            <a:ext cx="2286000" cy="4572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CREDENCIALES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731520" y="1874520"/>
            <a:ext cx="10698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mbria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Librix</a:t>
            </a:r>
            <a:r>
              <a:rPr b="1" i="0" lang="en-US" sz="68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Soft</a:t>
            </a:r>
            <a:endParaRPr b="0" i="0" sz="68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1371600" y="333756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1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4F1F1"/>
                </a:solidFill>
                <a:latin typeface="Calibri"/>
                <a:ea typeface="Calibri"/>
                <a:cs typeface="Calibri"/>
                <a:sym typeface="Calibri"/>
              </a:rPr>
              <a:t>Desarrollo de software a la medida, con talento senior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B8"/>
                </a:solidFill>
                <a:latin typeface="Calibri"/>
                <a:ea typeface="Calibri"/>
                <a:cs typeface="Calibri"/>
                <a:sym typeface="Calibri"/>
              </a:rPr>
              <a:t>Reunión de discovery  ·  librixsoft.com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1A3F"/>
                </a:solidFill>
                <a:latin typeface="Cambria"/>
                <a:ea typeface="Cambria"/>
                <a:cs typeface="Cambria"/>
                <a:sym typeface="Cambria"/>
              </a:rPr>
              <a:t>¿Quiénes somos?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640080" y="1371600"/>
            <a:ext cx="5623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033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2033"/>
                </a:solidFill>
                <a:latin typeface="Calibri"/>
                <a:ea typeface="Calibri"/>
                <a:cs typeface="Calibri"/>
                <a:sym typeface="Calibri"/>
              </a:rPr>
              <a:t>Somos una consultora de software boutique especializada en el diseño, desarrollo e implementación de soluciones tecnológicas a la medida. Operamos mediante células de desarrollo de alto rendimiento, integrando talento senior para construir sistemas robustos y complejos.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629400" y="1371600"/>
            <a:ext cx="489204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949440" y="162763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6949440" y="16276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&lt;/&gt;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7726680" y="1481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Desarrollo a medida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7726680" y="1847088"/>
            <a:ext cx="36758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Soluciones tecnológicas diseñadas y construidas específicamente para las necesidades de tu negocio.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629400" y="2971800"/>
            <a:ext cx="489204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6949440" y="3227832"/>
            <a:ext cx="548640" cy="548640"/>
          </a:xfrm>
          <a:prstGeom prst="ellipse">
            <a:avLst/>
          </a:prstGeom>
          <a:solidFill>
            <a:srgbClr val="121A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6949440" y="32278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7726680" y="30815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Células de desarrollo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7726680" y="3447288"/>
            <a:ext cx="36758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Equipos dedicados y escalables que se integran a tu operación y a tu ritmo de entrega.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640080" y="4709160"/>
            <a:ext cx="10881360" cy="1508760"/>
          </a:xfrm>
          <a:prstGeom prst="roundRect">
            <a:avLst>
              <a:gd fmla="val 7273" name="adj"/>
            </a:avLst>
          </a:prstGeom>
          <a:solidFill>
            <a:srgbClr val="0E7C86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960120" y="51206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960120" y="51206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B2B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920240" y="489204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Alianzas estratégicas </a:t>
            </a:r>
            <a:r>
              <a:rPr b="1"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constantes con otras marcar o corporativos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920240" y="5321808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F1F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4F1F1"/>
                </a:solidFill>
                <a:latin typeface="Calibri"/>
                <a:ea typeface="Calibri"/>
                <a:cs typeface="Calibri"/>
                <a:sym typeface="Calibri"/>
              </a:rPr>
              <a:t>Ponemos a disposición una estructura de </a:t>
            </a:r>
            <a:r>
              <a:rPr lang="en-US" sz="1350">
                <a:solidFill>
                  <a:srgbClr val="E4F1F1"/>
                </a:solidFill>
                <a:latin typeface="Calibri"/>
                <a:ea typeface="Calibri"/>
                <a:cs typeface="Calibri"/>
                <a:sym typeface="Calibri"/>
              </a:rPr>
              <a:t>capacidad elástica con especialistas en caso de requerir mas capacidad tecnica.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1A3F"/>
                </a:solidFill>
                <a:latin typeface="Cambria"/>
                <a:ea typeface="Cambria"/>
                <a:cs typeface="Cambria"/>
                <a:sym typeface="Cambria"/>
              </a:rPr>
              <a:t>Nuestro equipo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Equipo core propio + red de aliados especializados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640080" y="1737360"/>
            <a:ext cx="5212080" cy="429768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640080" y="1965960"/>
            <a:ext cx="5212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200"/>
              <a:buFont typeface="Cambria"/>
              <a:buNone/>
            </a:pPr>
            <a:r>
              <a:rPr b="1" i="0" lang="en-US" sz="9200" u="none" cap="none" strike="noStrike">
                <a:solidFill>
                  <a:srgbClr val="FF00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92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640080" y="34290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9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ngenieros </a:t>
            </a:r>
            <a:r>
              <a:rPr b="1" lang="en-US" sz="1900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9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enior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18"/>
          <p:cNvCxnSpPr/>
          <p:nvPr/>
        </p:nvCxnSpPr>
        <p:spPr>
          <a:xfrm>
            <a:off x="2240280" y="4023360"/>
            <a:ext cx="2011680" cy="0"/>
          </a:xfrm>
          <a:prstGeom prst="straightConnector1">
            <a:avLst/>
          </a:prstGeom>
          <a:noFill/>
          <a:ln cap="flat" cmpd="sng" w="12700">
            <a:solidFill>
              <a:srgbClr val="D8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8"/>
          <p:cNvSpPr/>
          <p:nvPr/>
        </p:nvSpPr>
        <p:spPr>
          <a:xfrm>
            <a:off x="1188720" y="4251960"/>
            <a:ext cx="41148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Nuestro equipo core, dedicado al desarrollo backend de alta complejidad y a los sistemas más críticos de cada proyecto.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080760" y="1737360"/>
            <a:ext cx="5440680" cy="4297680"/>
          </a:xfrm>
          <a:prstGeom prst="roundRect">
            <a:avLst>
              <a:gd fmla="val 2553" name="adj"/>
            </a:avLst>
          </a:prstGeom>
          <a:solidFill>
            <a:srgbClr val="121A3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6080760" y="1965960"/>
            <a:ext cx="5440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Cambria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+100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080760" y="3474720"/>
            <a:ext cx="5440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1F1"/>
              </a:buClr>
              <a:buSzPts val="1750"/>
              <a:buFont typeface="Calibri"/>
              <a:buNone/>
            </a:pPr>
            <a:r>
              <a:rPr b="1" i="0" lang="en-US" sz="1750" u="none" cap="none" strike="noStrike">
                <a:solidFill>
                  <a:srgbClr val="E4F1F1"/>
                </a:solidFill>
                <a:latin typeface="Calibri"/>
                <a:ea typeface="Calibri"/>
                <a:cs typeface="Calibri"/>
                <a:sym typeface="Calibri"/>
              </a:rPr>
              <a:t>diseñadores UX bajo demanda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8"/>
          <p:cNvCxnSpPr/>
          <p:nvPr/>
        </p:nvCxnSpPr>
        <p:spPr>
          <a:xfrm>
            <a:off x="7863840" y="4114800"/>
            <a:ext cx="1874520" cy="0"/>
          </a:xfrm>
          <a:prstGeom prst="straightConnector1">
            <a:avLst/>
          </a:prstGeom>
          <a:noFill/>
          <a:ln cap="flat" cmpd="sng" w="12700">
            <a:solidFill>
              <a:srgbClr val="3A45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8"/>
          <p:cNvSpPr/>
          <p:nvPr/>
        </p:nvSpPr>
        <p:spPr>
          <a:xfrm>
            <a:off x="6629400" y="4343400"/>
            <a:ext cx="4343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6CE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6CEEA"/>
                </a:solidFill>
                <a:latin typeface="Calibri"/>
                <a:ea typeface="Calibri"/>
                <a:cs typeface="Calibri"/>
                <a:sym typeface="Calibri"/>
              </a:rPr>
              <a:t>A través de nuestra alianza, escalamos el diseño de experiencia de usuario a la medida de cada proyecto o </a:t>
            </a:r>
            <a:r>
              <a:rPr lang="en-US" sz="1350">
                <a:solidFill>
                  <a:srgbClr val="C6CEEA"/>
                </a:solidFill>
                <a:latin typeface="Calibri"/>
                <a:ea typeface="Calibri"/>
                <a:cs typeface="Calibri"/>
                <a:sym typeface="Calibri"/>
              </a:rPr>
              <a:t>compliance para cuentras triple A o compliance estrictos</a:t>
            </a:r>
            <a:r>
              <a:rPr b="0" i="0" lang="en-US" sz="1350" u="none" cap="none" strike="noStrike">
                <a:solidFill>
                  <a:srgbClr val="C6CEE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1A3F"/>
                </a:solidFill>
                <a:latin typeface="Cambria"/>
                <a:ea typeface="Cambria"/>
                <a:cs typeface="Cambria"/>
                <a:sym typeface="Cambria"/>
              </a:rPr>
              <a:t>Cómo trabajamos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Metodología Scrum: iteraciones cortas y entregas continuas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640080" y="2011680"/>
            <a:ext cx="2480310" cy="3383280"/>
          </a:xfrm>
          <a:prstGeom prst="roundRect">
            <a:avLst>
              <a:gd fmla="val 44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468755" y="2286000"/>
            <a:ext cx="822960" cy="8229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468755" y="228600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777240" y="3337560"/>
            <a:ext cx="2205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868680" y="4069080"/>
            <a:ext cx="202311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Definimos alcance y prioridades de cada iteración.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3120390" y="24688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EC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7BEC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440430" y="2011680"/>
            <a:ext cx="2480310" cy="3383280"/>
          </a:xfrm>
          <a:prstGeom prst="roundRect">
            <a:avLst>
              <a:gd fmla="val 44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4269105" y="2286000"/>
            <a:ext cx="822960" cy="822960"/>
          </a:xfrm>
          <a:prstGeom prst="ellipse">
            <a:avLst/>
          </a:prstGeom>
          <a:solidFill>
            <a:srgbClr val="121A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4269105" y="2286000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577590" y="3337560"/>
            <a:ext cx="2205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Stand-up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669030" y="4069080"/>
            <a:ext cx="202311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Sincronización diaria del equipo de desarrollo.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920740" y="24688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EC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7BEC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240780" y="2011680"/>
            <a:ext cx="2480310" cy="3383280"/>
          </a:xfrm>
          <a:prstGeom prst="roundRect">
            <a:avLst>
              <a:gd fmla="val 44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7069455" y="2286000"/>
            <a:ext cx="822900" cy="822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6377940" y="3337560"/>
            <a:ext cx="2205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469380" y="4069080"/>
            <a:ext cx="202311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Presentamos avances funcionales al cliente.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8721090" y="24688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EC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7BEC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9041130" y="2011680"/>
            <a:ext cx="2480310" cy="3383280"/>
          </a:xfrm>
          <a:prstGeom prst="roundRect">
            <a:avLst>
              <a:gd fmla="val 442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033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9869805" y="2286000"/>
            <a:ext cx="822960" cy="8229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9869805" y="228600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9178290" y="3337560"/>
            <a:ext cx="2205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A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A3F"/>
                </a:solidFill>
                <a:latin typeface="Calibri"/>
                <a:ea typeface="Calibri"/>
                <a:cs typeface="Calibri"/>
                <a:sym typeface="Calibri"/>
              </a:rPr>
              <a:t>Retrospectiva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9269730" y="4069080"/>
            <a:ext cx="202311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478"/>
                </a:solidFill>
                <a:latin typeface="Calibri"/>
                <a:ea typeface="Calibri"/>
                <a:cs typeface="Calibri"/>
                <a:sym typeface="Calibri"/>
              </a:rPr>
              <a:t>Ajustamos y mejoramos el proceso continuamente.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069493" y="2286000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0560" cy="685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0560" cy="6856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609600" y="548640"/>
            <a:ext cx="1461600" cy="59700"/>
          </a:xfrm>
          <a:prstGeom prst="rect">
            <a:avLst/>
          </a:prstGeom>
          <a:solidFill>
            <a:srgbClr val="7EF0C9"/>
          </a:solidFill>
          <a:ln cap="flat" cmpd="sng" w="16925">
            <a:solidFill>
              <a:srgbClr val="7EF0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609600" y="670560"/>
            <a:ext cx="73137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SERVICIOS 2026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609600" y="1219200"/>
            <a:ext cx="85329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de</a:t>
            </a:r>
            <a:endParaRPr b="0" i="0" sz="7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alto impacto.</a:t>
            </a:r>
            <a:endParaRPr b="0" i="0" sz="7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609600" y="4267200"/>
            <a:ext cx="7313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Para empresas que no pueden fallar.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9848433" y="5863300"/>
            <a:ext cx="27849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LibrixSoft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609600" y="365760"/>
            <a:ext cx="109713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NUESTROS SERVICIOS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609600" y="792480"/>
            <a:ext cx="109713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hacemos.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548640" y="1767840"/>
            <a:ext cx="2619900" cy="42657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203040" rotWithShape="0" algn="bl" dir="8100000" dist="66524">
              <a:srgbClr val="000000">
                <a:alpha val="349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548640" y="1767840"/>
            <a:ext cx="2619900" cy="71700"/>
          </a:xfrm>
          <a:prstGeom prst="rect">
            <a:avLst/>
          </a:prstGeom>
          <a:solidFill>
            <a:srgbClr val="1D6FFF"/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731520" y="1987200"/>
            <a:ext cx="2253900" cy="339900"/>
          </a:xfrm>
          <a:prstGeom prst="roundRect">
            <a:avLst>
              <a:gd fmla="val 25000" name="adj"/>
            </a:avLst>
          </a:prstGeom>
          <a:solidFill>
            <a:srgbClr val="1D6FFF">
              <a:alpha val="20000"/>
            </a:srgbClr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731520" y="1987200"/>
            <a:ext cx="2253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7" name="Google Shape;1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2800" y="2499360"/>
            <a:ext cx="852001" cy="8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/>
          <p:nvPr/>
        </p:nvSpPr>
        <p:spPr>
          <a:xfrm>
            <a:off x="670560" y="3535680"/>
            <a:ext cx="2376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1158240" y="4693920"/>
            <a:ext cx="1400700" cy="29100"/>
          </a:xfrm>
          <a:prstGeom prst="rect">
            <a:avLst/>
          </a:prstGeom>
          <a:solidFill>
            <a:srgbClr val="1A3554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731520" y="4815840"/>
            <a:ext cx="22539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Aplicaciones web y mobile, APIs y microservicios para operación crítica.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352800" y="1767840"/>
            <a:ext cx="2619900" cy="42657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203040" rotWithShape="0" algn="bl" dir="8100000" dist="66524">
              <a:srgbClr val="000000">
                <a:alpha val="349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3352800" y="1767840"/>
            <a:ext cx="2619900" cy="71700"/>
          </a:xfrm>
          <a:prstGeom prst="rect">
            <a:avLst/>
          </a:prstGeom>
          <a:solidFill>
            <a:srgbClr val="A855F7"/>
          </a:solidFill>
          <a:ln cap="flat" cmpd="sng" w="169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3535680" y="1987200"/>
            <a:ext cx="2253900" cy="339900"/>
          </a:xfrm>
          <a:prstGeom prst="roundRect">
            <a:avLst>
              <a:gd fmla="val 25000" name="adj"/>
            </a:avLst>
          </a:prstGeom>
          <a:solidFill>
            <a:srgbClr val="A855F7">
              <a:alpha val="20000"/>
            </a:srgbClr>
          </a:solidFill>
          <a:ln cap="flat" cmpd="sng" w="169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3535680" y="1987200"/>
            <a:ext cx="2253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Inteligencia Artificial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5" name="Google Shape;17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6960" y="2499360"/>
            <a:ext cx="852001" cy="8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/>
          <p:nvPr/>
        </p:nvSpPr>
        <p:spPr>
          <a:xfrm>
            <a:off x="3474720" y="3535680"/>
            <a:ext cx="2376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Software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3962400" y="4693920"/>
            <a:ext cx="1400700" cy="29100"/>
          </a:xfrm>
          <a:prstGeom prst="rect">
            <a:avLst/>
          </a:prstGeom>
          <a:solidFill>
            <a:srgbClr val="1A3554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3535680" y="4815840"/>
            <a:ext cx="22539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Automatización, copilotos y entrega técnica potenciada por IA.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6156960" y="1767840"/>
            <a:ext cx="2619900" cy="42657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203040" rotWithShape="0" algn="bl" dir="8100000" dist="66524">
              <a:srgbClr val="000000">
                <a:alpha val="349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6156960" y="1767840"/>
            <a:ext cx="2619900" cy="71700"/>
          </a:xfrm>
          <a:prstGeom prst="rect">
            <a:avLst/>
          </a:prstGeom>
          <a:solidFill>
            <a:srgbClr val="0ABFBC"/>
          </a:solidFill>
          <a:ln cap="flat" cmpd="sng" w="16925">
            <a:solidFill>
              <a:srgbClr val="0AB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339840" y="1987200"/>
            <a:ext cx="2253900" cy="339900"/>
          </a:xfrm>
          <a:prstGeom prst="roundRect">
            <a:avLst>
              <a:gd fmla="val 25000" name="adj"/>
            </a:avLst>
          </a:prstGeom>
          <a:solidFill>
            <a:srgbClr val="0ABFBC">
              <a:alpha val="20000"/>
            </a:srgbClr>
          </a:solidFill>
          <a:ln cap="flat" cmpd="sng" w="16925">
            <a:solidFill>
              <a:srgbClr val="0AB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6339840" y="1987200"/>
            <a:ext cx="2253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3" name="Google Shape;1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1120" y="2499360"/>
            <a:ext cx="852001" cy="8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/>
          <p:nvPr/>
        </p:nvSpPr>
        <p:spPr>
          <a:xfrm>
            <a:off x="6278880" y="3535680"/>
            <a:ext cx="2376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CyberSecurity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6766560" y="4693920"/>
            <a:ext cx="1400700" cy="29100"/>
          </a:xfrm>
          <a:prstGeom prst="rect">
            <a:avLst/>
          </a:prstGeom>
          <a:solidFill>
            <a:srgbClr val="1A3554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6339840" y="4815840"/>
            <a:ext cx="22539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OWASP, hardening y seguridad integrada desde el diseño.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8961120" y="1767840"/>
            <a:ext cx="2619900" cy="42657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203040" rotWithShape="0" algn="bl" dir="8100000" dist="66524">
              <a:srgbClr val="000000">
                <a:alpha val="349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8961120" y="1767840"/>
            <a:ext cx="2619900" cy="71700"/>
          </a:xfrm>
          <a:prstGeom prst="rect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9144000" y="1987200"/>
            <a:ext cx="2253900" cy="339900"/>
          </a:xfrm>
          <a:prstGeom prst="roundRect">
            <a:avLst>
              <a:gd fmla="val 25000" name="adj"/>
            </a:avLst>
          </a:prstGeom>
          <a:solidFill>
            <a:srgbClr val="F59E0B">
              <a:alpha val="20000"/>
            </a:srgbClr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9144000" y="1987200"/>
            <a:ext cx="2253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Fintech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1" name="Google Shape;19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45280" y="2499360"/>
            <a:ext cx="852001" cy="8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9083040" y="3535680"/>
            <a:ext cx="2376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Banking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9570720" y="4693920"/>
            <a:ext cx="1400700" cy="29100"/>
          </a:xfrm>
          <a:prstGeom prst="rect">
            <a:avLst/>
          </a:prstGeom>
          <a:solidFill>
            <a:srgbClr val="1A3554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9144000" y="4815840"/>
            <a:ext cx="22539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Wallets digitales, banca móvil y plataformas de pago seguras.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00"/>
            <a:ext cx="12190560" cy="685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609600" y="365760"/>
            <a:ext cx="109713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POR QUÉ LIBRIXSOFT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609600" y="853440"/>
            <a:ext cx="109713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libri"/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 hiper-</a:t>
            </a: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especializado en soluciones enterprise</a:t>
            </a:r>
            <a:r>
              <a:rPr b="1" i="0" lang="en-US" sz="31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805013" y="2133617"/>
            <a:ext cx="3412500" cy="3656100"/>
          </a:xfrm>
          <a:prstGeom prst="rect">
            <a:avLst/>
          </a:prstGeom>
          <a:solidFill>
            <a:srgbClr val="0D1E33">
              <a:alpha val="80000"/>
            </a:srgbClr>
          </a:solidFill>
          <a:ln cap="flat" cmpd="sng" w="16925">
            <a:solidFill>
              <a:srgbClr val="7EF0C9"/>
            </a:solidFill>
            <a:prstDash val="solid"/>
            <a:round/>
            <a:headEnd len="sm" w="sm" type="none"/>
            <a:tailEnd len="sm" w="sm" type="none"/>
          </a:ln>
          <a:effectLst>
            <a:outerShdw blurRad="270720" rotWithShape="0" algn="bl" dir="8100000" dist="101144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3352800" y="2280000"/>
            <a:ext cx="7299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5" name="Google Shape;2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2377440"/>
            <a:ext cx="791040" cy="791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1036320" y="3352800"/>
            <a:ext cx="29247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1.6–21 · Spring Boot · Spring MVC · Spring AI · JPA/Hibernate · Kafka · MongoDB · SQL Server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1036320" y="4145280"/>
            <a:ext cx="608100" cy="47700"/>
          </a:xfrm>
          <a:prstGeom prst="rect">
            <a:avLst/>
          </a:prstGeom>
          <a:solidFill>
            <a:srgbClr val="7EF0C9"/>
          </a:solidFill>
          <a:ln cap="flat" cmpd="sng" w="16925">
            <a:solidFill>
              <a:srgbClr val="7EF0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1036320" y="4328160"/>
            <a:ext cx="29247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Acceso directo al equipo con criterio ejecutivo en cada proyecto.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4561583" y="2133700"/>
            <a:ext cx="3399900" cy="3656100"/>
          </a:xfrm>
          <a:prstGeom prst="rect">
            <a:avLst/>
          </a:prstGeom>
          <a:solidFill>
            <a:srgbClr val="0D1E33">
              <a:alpha val="80000"/>
            </a:srgbClr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  <a:effectLst>
            <a:outerShdw blurRad="270720" rotWithShape="0" algn="bl" dir="8100000" dist="101144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7092315" y="2280000"/>
            <a:ext cx="7299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FFF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D6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1" name="Google Shape;2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6795" y="2377440"/>
            <a:ext cx="791040" cy="791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4775835" y="3352800"/>
            <a:ext cx="29247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 · React · TypeScript · JavaScript · HTML5 · CSS3 · Angular Material · React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Material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4998720" y="4145280"/>
            <a:ext cx="608100" cy="47700"/>
          </a:xfrm>
          <a:prstGeom prst="rect">
            <a:avLst/>
          </a:prstGeom>
          <a:solidFill>
            <a:srgbClr val="1D6FFF"/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4775835" y="4328160"/>
            <a:ext cx="29247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Cada proyecto diseñado para el problema real, sin plantillas genéricas.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8305808" y="2150255"/>
            <a:ext cx="3412500" cy="3656100"/>
          </a:xfrm>
          <a:prstGeom prst="rect">
            <a:avLst/>
          </a:prstGeom>
          <a:solidFill>
            <a:srgbClr val="0D1E33">
              <a:alpha val="80000"/>
            </a:srgbClr>
          </a:solidFill>
          <a:ln cap="flat" cmpd="sng" w="169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270720" rotWithShape="0" algn="bl" dir="8100000" dist="101144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10866128" y="2296655"/>
            <a:ext cx="7299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549648" y="3369455"/>
            <a:ext cx="29247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· Kubernetes · SonarQube · CI/CD · GitHub/GitLab · AWS · G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 -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JUnit · TDD · Scrum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8961120" y="4205756"/>
            <a:ext cx="608100" cy="47700"/>
          </a:xfrm>
          <a:prstGeom prst="rect">
            <a:avLst/>
          </a:prstGeom>
          <a:solidFill>
            <a:srgbClr val="A855F7"/>
          </a:solidFill>
          <a:ln cap="flat" cmpd="sng" w="169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8549648" y="4344815"/>
            <a:ext cx="2924700" cy="12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Código limpio, seguro y entregado con velocidad de boutique.</a:t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0560" cy="685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/>
          <p:nvPr/>
        </p:nvSpPr>
        <p:spPr>
          <a:xfrm>
            <a:off x="609600" y="426720"/>
            <a:ext cx="54849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EXPERTISE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09600" y="853440"/>
            <a:ext cx="54849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Calibri"/>
              <a:buNone/>
            </a:pPr>
            <a:r>
              <a:rPr b="1" i="0" lang="en-US" sz="5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Experiencia.</a:t>
            </a:r>
            <a:endParaRPr b="0" i="0" sz="5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609600" y="3108960"/>
            <a:ext cx="4875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Presencia real en banca, seguros,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fintech e industria.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730240" y="609600"/>
            <a:ext cx="17664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3536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730240" y="609600"/>
            <a:ext cx="59700" cy="1339500"/>
          </a:xfrm>
          <a:prstGeom prst="rect">
            <a:avLst/>
          </a:prstGeom>
          <a:solidFill>
            <a:srgbClr val="1D6FFF"/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876640" y="756000"/>
            <a:ext cx="1522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BBVA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876640" y="1402080"/>
            <a:ext cx="1522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Banca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717440" y="609600"/>
            <a:ext cx="17664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3536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7717440" y="609600"/>
            <a:ext cx="59700" cy="1339500"/>
          </a:xfrm>
          <a:prstGeom prst="rect">
            <a:avLst/>
          </a:prstGeom>
          <a:solidFill>
            <a:srgbClr val="A855F7"/>
          </a:solidFill>
          <a:ln cap="flat" cmpd="sng" w="169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7863840" y="756000"/>
            <a:ext cx="1522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GNP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7863840" y="1402080"/>
            <a:ext cx="1522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Seguros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9704640" y="609600"/>
            <a:ext cx="17664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3536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9704640" y="609600"/>
            <a:ext cx="59700" cy="1339500"/>
          </a:xfrm>
          <a:prstGeom prst="rect">
            <a:avLst/>
          </a:prstGeom>
          <a:solidFill>
            <a:srgbClr val="0ABFBC"/>
          </a:solidFill>
          <a:ln cap="flat" cmpd="sng" w="16925">
            <a:solidFill>
              <a:srgbClr val="0ABF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9851040" y="756000"/>
            <a:ext cx="1522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Equifax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9851040" y="1402080"/>
            <a:ext cx="1522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Finanzas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30240" y="2194560"/>
            <a:ext cx="17664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3536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30240" y="2194560"/>
            <a:ext cx="59700" cy="1339500"/>
          </a:xfrm>
          <a:prstGeom prst="rect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5876640" y="2340960"/>
            <a:ext cx="1522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Spin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OXXO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876640" y="2987040"/>
            <a:ext cx="1522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Fintech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717440" y="2194560"/>
            <a:ext cx="17664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3536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7717440" y="2194560"/>
            <a:ext cx="59700" cy="1339500"/>
          </a:xfrm>
          <a:prstGeom prst="rect">
            <a:avLst/>
          </a:prstGeom>
          <a:solidFill>
            <a:srgbClr val="10B981"/>
          </a:solidFill>
          <a:ln cap="flat" cmpd="sng" w="169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7863840" y="2340960"/>
            <a:ext cx="1522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Prisma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863840" y="2987040"/>
            <a:ext cx="1522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Pagos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9704640" y="2194560"/>
            <a:ext cx="17664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3536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9704640" y="2194560"/>
            <a:ext cx="59700" cy="1339500"/>
          </a:xfrm>
          <a:prstGeom prst="rect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9851040" y="2340960"/>
            <a:ext cx="1522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9851040" y="2987040"/>
            <a:ext cx="15225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Productos LibrixSoft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16633" y="4799973"/>
            <a:ext cx="4559100" cy="14232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1183353" y="5013093"/>
            <a:ext cx="34125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1236633" y="5744133"/>
            <a:ext cx="3412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Nuestro equipo senior cuenta con más de 10 años de experiencia en proyectos de alta complejidad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402967" y="4799973"/>
            <a:ext cx="4559100" cy="14232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6069687" y="5013093"/>
            <a:ext cx="34125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3700"/>
              <a:buFont typeface="Calibri"/>
              <a:buNone/>
            </a:pPr>
            <a:r>
              <a:rPr b="1" lang="en-US" sz="3700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B2B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122967" y="5744133"/>
            <a:ext cx="3412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Apoyamos a las empresas como una extensión de equipo.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0560" cy="685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0560" cy="685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/>
          <p:nvPr/>
        </p:nvSpPr>
        <p:spPr>
          <a:xfrm>
            <a:off x="1219200" y="609600"/>
            <a:ext cx="97521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¿LISTO PARA EMPEZAR?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1219200" y="1097280"/>
            <a:ext cx="9752100" cy="26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Calibri"/>
              <a:buNone/>
            </a:pPr>
            <a:r>
              <a:rPr b="1" i="0" lang="en-US" sz="6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Construyamos</a:t>
            </a:r>
            <a:endParaRPr b="0" i="0" sz="6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F0C9"/>
              </a:buClr>
              <a:buSzPts val="6100"/>
              <a:buFont typeface="Calibri"/>
              <a:buNone/>
            </a:pPr>
            <a:r>
              <a:rPr b="1" i="0" lang="en-US" sz="6100" u="none" cap="none" strike="noStrike">
                <a:solidFill>
                  <a:srgbClr val="7EF0C9"/>
                </a:solidFill>
                <a:latin typeface="Calibri"/>
                <a:ea typeface="Calibri"/>
                <a:cs typeface="Calibri"/>
                <a:sym typeface="Calibri"/>
              </a:rPr>
              <a:t>algo que no falle.</a:t>
            </a:r>
            <a:endParaRPr b="0" i="0" sz="6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975360" y="4023360"/>
            <a:ext cx="32295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6944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975360" y="4023360"/>
            <a:ext cx="3229500" cy="59700"/>
          </a:xfrm>
          <a:prstGeom prst="rect">
            <a:avLst/>
          </a:prstGeom>
          <a:solidFill>
            <a:srgbClr val="1D6FFF"/>
          </a:solidFill>
          <a:ln cap="flat" cmpd="sng" w="16925">
            <a:solidFill>
              <a:srgbClr val="1D6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8240" y="4169760"/>
            <a:ext cx="425280" cy="42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/>
          <p:nvPr/>
        </p:nvSpPr>
        <p:spPr>
          <a:xfrm>
            <a:off x="1706880" y="4120800"/>
            <a:ext cx="2376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1158240" y="4572000"/>
            <a:ext cx="29247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www.librixsoft.com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4632960" y="4023360"/>
            <a:ext cx="32295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6944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4632960" y="4023360"/>
            <a:ext cx="3229500" cy="59700"/>
          </a:xfrm>
          <a:prstGeom prst="rect">
            <a:avLst/>
          </a:prstGeom>
          <a:solidFill>
            <a:srgbClr val="7EF0C9"/>
          </a:solidFill>
          <a:ln cap="flat" cmpd="sng" w="16925">
            <a:solidFill>
              <a:srgbClr val="7EF0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5840" y="4169760"/>
            <a:ext cx="425280" cy="42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/>
          <p:nvPr/>
        </p:nvSpPr>
        <p:spPr>
          <a:xfrm>
            <a:off x="5364480" y="4120800"/>
            <a:ext cx="2376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4815840" y="4572000"/>
            <a:ext cx="29247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hola@librixsoft.com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8290560" y="4023360"/>
            <a:ext cx="3229500" cy="1339500"/>
          </a:xfrm>
          <a:prstGeom prst="rect">
            <a:avLst/>
          </a:prstGeom>
          <a:solidFill>
            <a:srgbClr val="0D1E33"/>
          </a:solidFill>
          <a:ln cap="flat" cmpd="sng" w="16925">
            <a:solidFill>
              <a:srgbClr val="1A3554"/>
            </a:solidFill>
            <a:prstDash val="solid"/>
            <a:round/>
            <a:headEnd len="sm" w="sm" type="none"/>
            <a:tailEnd len="sm" w="sm" type="none"/>
          </a:ln>
          <a:effectLst>
            <a:outerShdw blurRad="169440" rotWithShape="0" algn="bl" dir="8100000" dist="50232">
              <a:srgbClr val="000000">
                <a:alpha val="3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8290560" y="4023360"/>
            <a:ext cx="3229500" cy="59700"/>
          </a:xfrm>
          <a:prstGeom prst="rect">
            <a:avLst/>
          </a:prstGeom>
          <a:solidFill>
            <a:srgbClr val="A855F7"/>
          </a:solidFill>
          <a:ln cap="flat" cmpd="sng" w="169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3440" y="4169760"/>
            <a:ext cx="425280" cy="42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/>
          <p:nvPr/>
        </p:nvSpPr>
        <p:spPr>
          <a:xfrm>
            <a:off x="9022080" y="4120800"/>
            <a:ext cx="2376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A0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A0C0"/>
                </a:solidFill>
                <a:latin typeface="Calibri"/>
                <a:ea typeface="Calibri"/>
                <a:cs typeface="Calibri"/>
                <a:sym typeface="Calibri"/>
              </a:rPr>
              <a:t>Ciudad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8473440" y="4572000"/>
            <a:ext cx="29247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Ciudad de México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0" y="6461760"/>
            <a:ext cx="12190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0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4060"/>
                </a:solidFill>
                <a:latin typeface="Calibri"/>
                <a:ea typeface="Calibri"/>
                <a:cs typeface="Calibri"/>
                <a:sym typeface="Calibri"/>
              </a:rPr>
              <a:t>librixsoft.com · 2026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